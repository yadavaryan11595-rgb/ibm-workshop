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952861336"/>
              </p:ext>
            </p:extLst>
          </p:nvPr>
        </p:nvGraphicFramePr>
        <p:xfrm>
          <a:off x="1299257" y="2600315"/>
          <a:ext cx="9394989" cy="21676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4391">
                <a:tc>
                  <a:txBody>
                    <a:bodyPr/>
                    <a:lstStyle/>
                    <a:p>
                      <a:pPr marL="0" marR="0" lvl="0" indent="0" algn="l" rtl="0">
                        <a:spcBef>
                          <a:spcPts val="0"/>
                        </a:spcBef>
                        <a:spcAft>
                          <a:spcPts val="0"/>
                        </a:spcAft>
                        <a:buNone/>
                      </a:pPr>
                      <a:r>
                        <a:rPr lang="en-US" dirty="0"/>
                        <a:t>ARYAN YADAV</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yadavaryan11595@gmail.com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9699800397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4135451" y="3738417"/>
            <a:ext cx="597646"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SOCIAL MEDIA AND DIGITAL MARKETING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cs typeface="Times New Roman"/>
                <a:sym typeface="Times New Roman"/>
              </a:rPr>
              <a:t>SOCIAL MEDIA AGENT</a:t>
            </a:r>
            <a:r>
              <a:rPr lang="en-US" sz="2400" b="1" dirty="0">
                <a:highlight>
                  <a:srgbClr val="FFFF00"/>
                </a:highlight>
              </a:rPr>
              <a:t>]</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27308"/>
            <a:ext cx="10607040" cy="5909310"/>
          </a:xfrm>
          <a:prstGeom prst="rect">
            <a:avLst/>
          </a:prstGeom>
          <a:noFill/>
        </p:spPr>
        <p:txBody>
          <a:bodyPr wrap="square" rtlCol="0">
            <a:spAutoFit/>
          </a:bodyPr>
          <a:lstStyle/>
          <a:p>
            <a:r>
              <a:rPr lang="en-US" dirty="0"/>
              <a:t>Brands, influencers, businesses, and organizations struggle to keep up with the fast-paced and ever-changing world of social media. Trends evolve rapidly, audience preferences shift frequently, and competitor strategies change continuously across multiple platforms such as Instagram, Facebook, LinkedIn, and X (Twitter). Managing content, analyzing audience sentiment, tracking competitors, and maintaining engagement across different platforms is time-consuming and inefficient. The challenge is to build an intelligent system that not only collects and analyzes social media data but also predicts trends, generates content, and recommends actions in real time to maximize engagement and campaign performance.</a:t>
            </a:r>
          </a:p>
          <a:p>
            <a:r>
              <a:rPr lang="en-US" b="1" dirty="0"/>
              <a:t>Objectives</a:t>
            </a:r>
          </a:p>
          <a:p>
            <a:r>
              <a:rPr lang="en-US" dirty="0"/>
              <a:t>The objective is to build an </a:t>
            </a:r>
            <a:r>
              <a:rPr lang="en-US" b="1" dirty="0"/>
              <a:t>Agentic AI-powered Social Media Agent</a:t>
            </a:r>
            <a:r>
              <a:rPr lang="en-US" dirty="0"/>
              <a:t> that acts as an intelligent social media companion for brands, marketers, influencers, and organizations. The solution should:</a:t>
            </a:r>
          </a:p>
          <a:p>
            <a:r>
              <a:rPr lang="en-US" b="1" dirty="0"/>
              <a:t>1. Fuse Multi-Platform Social Media Data</a:t>
            </a:r>
          </a:p>
          <a:p>
            <a:r>
              <a:rPr lang="en-US" dirty="0"/>
              <a:t>Collect and integrate posts, comments, hashtags, engagement metrics, and competitor activities from platforms such as Instagram, Facebook, LinkedIn, and X into a unified analytics system.</a:t>
            </a:r>
          </a:p>
          <a:p>
            <a:r>
              <a:rPr lang="en-US" b="1" dirty="0"/>
              <a:t>2. Enable Multimodal Interaction</a:t>
            </a:r>
          </a:p>
          <a:p>
            <a:r>
              <a:rPr lang="en-US" dirty="0"/>
              <a:t>Allow users to interact using </a:t>
            </a:r>
            <a:r>
              <a:rPr lang="en-US" b="1" dirty="0"/>
              <a:t>text, voice, or image inputs</a:t>
            </a:r>
            <a:r>
              <a:rPr lang="en-US" dirty="0"/>
              <a:t> to generate captions, social media posts, campaign ideas, hashtags, and creative content while maintaining the brand's tone and style.</a:t>
            </a:r>
          </a:p>
          <a:p>
            <a:r>
              <a:rPr lang="en-US" b="1" dirty="0"/>
              <a:t>3. Create a Predictive &amp; Agentic Layer</a:t>
            </a:r>
          </a:p>
          <a:p>
            <a:r>
              <a:rPr lang="en-US" dirty="0"/>
              <a:t>Analyze audience behavior, forecast trending topics and hashtags, predict engagement performance, identify competitor strategies, and recommend the best posting times and content strategies.</a:t>
            </a:r>
          </a:p>
          <a:p>
            <a:r>
              <a:rPr lang="en-US" b="1" dirty="0"/>
              <a:t>4. Visualize Social Media Insights</a:t>
            </a:r>
          </a:p>
          <a:p>
            <a:r>
              <a:rPr lang="en-US" dirty="0"/>
              <a:t>Provide an interactive dashboard with real-time analytics, including engagement trends, audience sentiment, influencer analysis, competitor comparisons, campaign performance, and AI-powered recommendations.</a:t>
            </a:r>
          </a:p>
          <a:p>
            <a:r>
              <a:rPr lang="en-US" b="1" dirty="0"/>
              <a:t>5. Automate Social Media Management</a:t>
            </a:r>
          </a:p>
          <a:p>
            <a:r>
              <a:rPr lang="en-US" dirty="0"/>
              <a:t>Enable intelligent scheduling, content recommendations, campaign planning, performance monitoring, and automated responses to improve productivity and audience engagement.</a:t>
            </a:r>
          </a:p>
          <a:p>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143000"/>
            <a:ext cx="10823448" cy="6001643"/>
          </a:xfrm>
          <a:prstGeom prst="rect">
            <a:avLst/>
          </a:prstGeom>
          <a:noFill/>
        </p:spPr>
        <p:txBody>
          <a:bodyPr wrap="square" rtlCol="0">
            <a:spAutoFit/>
          </a:bodyPr>
          <a:lstStyle/>
          <a:p>
            <a:r>
              <a:rPr lang="en-US" sz="2000" b="1" dirty="0"/>
              <a:t>Proposed Solution: SOCIAL MEDIA AGENT</a:t>
            </a:r>
          </a:p>
          <a:p>
            <a:r>
              <a:rPr lang="en-US" dirty="0"/>
              <a:t>The proposed solution is a </a:t>
            </a:r>
            <a:r>
              <a:rPr lang="en-US" b="1" dirty="0"/>
              <a:t>multi-agent AI-powered SOCIAL MEDIA</a:t>
            </a:r>
            <a:r>
              <a:rPr lang="en-US" dirty="0"/>
              <a:t> built using </a:t>
            </a:r>
            <a:r>
              <a:rPr lang="en-US" b="1" dirty="0"/>
              <a:t>IBM </a:t>
            </a:r>
            <a:r>
              <a:rPr lang="en-US" b="1" dirty="0" err="1"/>
              <a:t>LangFlow</a:t>
            </a:r>
            <a:r>
              <a:rPr lang="en-US" b="1" dirty="0"/>
              <a:t>, IBM watsonx.ai, IBM Orchestrate, and Granite Models</a:t>
            </a:r>
            <a:r>
              <a:rPr lang="en-US" dirty="0"/>
              <a:t> to provide personalized, real-time travel planning and intelligent trip assistance. The system addresses challenges in trip planning, booking management, itinerary optimization, and real-time travel support through an intelligent, modular architecture.</a:t>
            </a:r>
          </a:p>
          <a:p>
            <a:r>
              <a:rPr lang="en-US" dirty="0"/>
              <a:t>:</a:t>
            </a:r>
          </a:p>
          <a:p>
            <a:r>
              <a:rPr lang="en-US" b="1" dirty="0"/>
              <a:t>SOCIAL MEDIA</a:t>
            </a:r>
          </a:p>
          <a:p>
            <a:r>
              <a:rPr lang="en-US" dirty="0"/>
              <a:t>Retrieves and summarizes destination information, tourist attractions, transportation options, accommodation details, and local events using the RAG pipeline to help users plan complete trips.</a:t>
            </a:r>
          </a:p>
          <a:p>
            <a:r>
              <a:rPr lang="en-US" b="1" dirty="0"/>
              <a:t>Itinerary Recommendation Agent</a:t>
            </a:r>
          </a:p>
          <a:p>
            <a:r>
              <a:rPr lang="en-US" dirty="0"/>
              <a:t>Generates personalized travel itineraries based on user inputs such as destination, budget, travel dates, interests, group size, and preferred activities. It recommends optimized routes, attractions, hotels, restaurants, and transportation options.</a:t>
            </a:r>
          </a:p>
          <a:p>
            <a:r>
              <a:rPr lang="en-US" b="1" dirty="0"/>
              <a:t>DIGITAL MARKETING</a:t>
            </a:r>
          </a:p>
          <a:p>
            <a:r>
              <a:rPr lang="en-US" dirty="0"/>
              <a:t>Provides predictive travel insights by monitoring weather forecasts, flight delays, traffic conditions, hotel price trends, and crowd levels. It proactively suggests alternative routes, travel schedules, and booking opportunities to ensure a smooth travel experience.</a:t>
            </a:r>
            <a:endParaRPr lang="en-US" b="1" dirty="0"/>
          </a:p>
          <a:p>
            <a:r>
              <a:rPr lang="en-US" dirty="0"/>
              <a:t>Allows users to search and manage flights, hotels, local transport, and activity bookings using text, voice, or image inputs. It also provides real-time notifications, travel reminders, navigation assistance, and instant recommendations throughout the journey.</a:t>
            </a:r>
          </a:p>
          <a:p>
            <a:r>
              <a:rPr lang="en-US" dirty="0"/>
              <a:t>The solution includes a </a:t>
            </a:r>
            <a:r>
              <a:rPr lang="en-US" b="1" dirty="0"/>
              <a:t>user-friendly dashboard</a:t>
            </a:r>
            <a:r>
              <a:rPr lang="en-US" dirty="0"/>
              <a:t> (built with </a:t>
            </a:r>
            <a:r>
              <a:rPr lang="en-US" b="1" dirty="0"/>
              <a:t>React</a:t>
            </a:r>
            <a:r>
              <a:rPr lang="en-US" dirty="0"/>
              <a:t> or </a:t>
            </a:r>
            <a:r>
              <a:rPr lang="en-US" b="1" dirty="0" err="1"/>
              <a:t>Streamlit</a:t>
            </a:r>
            <a:r>
              <a:rPr lang="en-US" dirty="0"/>
              <a:t>) that visualizes trip itineraries, booking status, travel expenses, weather forecasts, maps, nearby attractions, travel alerts, and personalized recommendations in real time.</a:t>
            </a:r>
          </a:p>
          <a:p>
            <a:r>
              <a:rPr lang="en-US" b="1" dirty="0"/>
              <a:t>IBM </a:t>
            </a:r>
            <a:r>
              <a:rPr lang="en-US" b="1" dirty="0" err="1"/>
              <a:t>LangFlow</a:t>
            </a:r>
            <a:r>
              <a:rPr lang="en-US" dirty="0"/>
              <a:t> is used to orchestrate the workflows between multiple AI agents, while </a:t>
            </a:r>
            <a:r>
              <a:rPr lang="en-US" b="1" dirty="0"/>
              <a:t>IBM Orchestrate</a:t>
            </a:r>
            <a:r>
              <a:rPr lang="en-US" dirty="0"/>
              <a:t> automates travel-related tasks such as searching, booking, itinerary updates, and notifications. </a:t>
            </a:r>
            <a:r>
              <a:rPr lang="en-US" b="1" dirty="0"/>
              <a:t>IBM watsonx.ai</a:t>
            </a:r>
            <a:r>
              <a:rPr lang="en-US" dirty="0"/>
              <a:t> provides scalable AI model deployment, embeddings, and governance, while </a:t>
            </a:r>
            <a:r>
              <a:rPr lang="en-US" b="1" dirty="0"/>
              <a:t>IBM Granite Models</a:t>
            </a:r>
            <a:r>
              <a:rPr lang="en-US" dirty="0"/>
              <a:t> power reasoning, itinerary generation, travel recommendations, summarization, multilingual interactions, and intelligent decision-making.</a:t>
            </a:r>
          </a:p>
          <a:p>
            <a:r>
              <a:rPr lang="en-US" dirty="0"/>
              <a:t>Overall, this solution delivers an </a:t>
            </a:r>
            <a:r>
              <a:rPr lang="en-US" b="1" dirty="0"/>
              <a:t>end-to-end intelligent travel assistant</a:t>
            </a:r>
            <a:r>
              <a:rPr lang="en-US" dirty="0"/>
              <a:t> that simplifies travel planning, personalizes every journey, automates bookings, provides proactive travel support, and enhances the overall travel experience through real-time insights and AI-powered recommendations.</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a:p>
          <a:p>
            <a:r>
              <a:rPr lang="en-US" b="1"/>
              <a:t>1) Chat Input </a:t>
            </a:r>
            <a:r>
              <a:rPr lang="en-US"/>
              <a:t>– Interface where users enter their queries, preferences, or meal details (text/voice/image).</a:t>
            </a:r>
          </a:p>
          <a:p>
            <a:endParaRPr lang="en-US"/>
          </a:p>
          <a:p>
            <a:r>
              <a:rPr lang="en-US" b="1"/>
              <a:t>2) IBM </a:t>
            </a:r>
            <a:r>
              <a:rPr lang="en-US" b="1" err="1"/>
              <a:t>watsonx</a:t>
            </a:r>
            <a:r>
              <a:rPr lang="en-US" b="1"/>
              <a:t> AI Agent </a:t>
            </a:r>
            <a:r>
              <a:rPr lang="en-US"/>
              <a:t>- Processes user input using Granite models to generate personalized nutrition insights and recommendations. </a:t>
            </a:r>
          </a:p>
          <a:p>
            <a:endParaRPr lang="en-US"/>
          </a:p>
          <a:p>
            <a:r>
              <a:rPr lang="en-US" b="1"/>
              <a:t>3) Name of IBM Granite model - </a:t>
            </a:r>
            <a:r>
              <a:rPr lang="en-US"/>
              <a:t>Granite-4.0-8B-Instruct → Fast, efficient for real-time diet recommendations</a:t>
            </a:r>
          </a:p>
          <a:p>
            <a:endParaRPr lang="en-US"/>
          </a:p>
          <a:p>
            <a:r>
              <a:rPr lang="en-US" b="1"/>
              <a:t>4) Chat output -</a:t>
            </a:r>
            <a:r>
              <a:rPr lang="en-US"/>
              <a:t>Displays AI-generated responses such as diet plans, nutritional analysis, and health suggestions. </a:t>
            </a:r>
          </a:p>
          <a:p>
            <a:endParaRPr lang="en-US"/>
          </a:p>
          <a:p>
            <a:r>
              <a:rPr lang="en-US" b="1"/>
              <a:t>5) </a:t>
            </a:r>
            <a:r>
              <a:rPr lang="en-US" b="1">
                <a:highlight>
                  <a:srgbClr val="FFFF00"/>
                </a:highlight>
              </a:rPr>
              <a:t>File component - </a:t>
            </a:r>
            <a:r>
              <a:rPr lang="en-US">
                <a:highlight>
                  <a:srgbClr val="FFFF00"/>
                </a:highlight>
              </a:rPr>
              <a:t>Stores and retrieves user data, meal logs, and nutritional datasets for analysis and tracking.</a:t>
            </a:r>
          </a:p>
          <a:p>
            <a:endParaRPr lang="en-US"/>
          </a:p>
          <a:p>
            <a:endParaRPr lang="en-US"/>
          </a:p>
          <a:p>
            <a:r>
              <a:rPr lang="en-US"/>
              <a:t>6) </a:t>
            </a:r>
            <a:r>
              <a:rPr lang="en-US">
                <a:highlight>
                  <a:srgbClr val="FFFF00"/>
                </a:highlight>
              </a:rPr>
              <a:t>Add name of any other component used.</a:t>
            </a:r>
          </a:p>
          <a:p>
            <a:pPr marL="342900" indent="-342900">
              <a:buAutoNum type="arabicParenR" startAt="3"/>
            </a:pPr>
            <a:endParaRPr lang="en-US"/>
          </a:p>
          <a:p>
            <a:endParaRPr lang="en-US"/>
          </a:p>
          <a:p>
            <a:endParaRPr lang="en-US"/>
          </a:p>
          <a:p>
            <a:endParaRPr lang="en-US"/>
          </a:p>
          <a:p>
            <a:endParaRPr lang="en-US"/>
          </a:p>
          <a:p>
            <a:endParaRPr lang="en-US"/>
          </a:p>
          <a:p>
            <a:endParaRPr lang="en-US"/>
          </a:p>
          <a:p>
            <a:r>
              <a:rPr lang="en-US"/>
              <a:t> </a:t>
            </a:r>
            <a:endParaRPr lang="en-IN"/>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WEBSITE PAGE</a:t>
            </a:r>
            <a:endParaRPr sz="2400" b="1" dirty="0">
              <a:sym typeface="Times New Roman"/>
            </a:endParaRPr>
          </a:p>
        </p:txBody>
      </p:sp>
      <p:pic>
        <p:nvPicPr>
          <p:cNvPr id="5" name="Picture 4">
            <a:extLst>
              <a:ext uri="{FF2B5EF4-FFF2-40B4-BE49-F238E27FC236}">
                <a16:creationId xmlns:a16="http://schemas.microsoft.com/office/drawing/2014/main" id="{D221218C-49ED-E296-BF67-45145FF01ADB}"/>
              </a:ext>
            </a:extLst>
          </p:cNvPr>
          <p:cNvPicPr>
            <a:picLocks noChangeAspect="1"/>
          </p:cNvPicPr>
          <p:nvPr/>
        </p:nvPicPr>
        <p:blipFill>
          <a:blip r:embed="rId3"/>
          <a:stretch>
            <a:fillRect/>
          </a:stretch>
        </p:blipFill>
        <p:spPr>
          <a:xfrm>
            <a:off x="244174" y="1034143"/>
            <a:ext cx="11703651" cy="5682343"/>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5" name="Picture 4">
            <a:extLst>
              <a:ext uri="{FF2B5EF4-FFF2-40B4-BE49-F238E27FC236}">
                <a16:creationId xmlns:a16="http://schemas.microsoft.com/office/drawing/2014/main" id="{88B307A3-7684-8061-02B5-3033C6711A06}"/>
              </a:ext>
            </a:extLst>
          </p:cNvPr>
          <p:cNvPicPr>
            <a:picLocks noChangeAspect="1"/>
          </p:cNvPicPr>
          <p:nvPr/>
        </p:nvPicPr>
        <p:blipFill>
          <a:blip r:embed="rId3"/>
          <a:stretch>
            <a:fillRect/>
          </a:stretch>
        </p:blipFill>
        <p:spPr>
          <a:xfrm>
            <a:off x="947057" y="771747"/>
            <a:ext cx="10254343" cy="56181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047536"/>
          </a:xfrm>
          <a:prstGeom prst="rect">
            <a:avLst/>
          </a:prstGeom>
          <a:noFill/>
        </p:spPr>
        <p:txBody>
          <a:bodyPr wrap="square" rtlCol="0">
            <a:spAutoFit/>
          </a:bodyPr>
          <a:lstStyle/>
          <a:p>
            <a:r>
              <a:rPr lang="en-US" dirty="0"/>
              <a:t>Agentic AI transforms the </a:t>
            </a:r>
            <a:r>
              <a:rPr lang="en-US" b="1" dirty="0"/>
              <a:t>Social Media Agent</a:t>
            </a:r>
            <a:r>
              <a:rPr lang="en-US" dirty="0"/>
              <a:t> from a simple automation tool into an intelligent, autonomous system capable of planning, reasoning, and executing tasks with minimal human intervention. Instead of only responding to commands, it proactively analyzes data, makes decisions, coordinates multiple AI agents, and continuously optimizes social media strategies.</a:t>
            </a:r>
          </a:p>
          <a:p>
            <a:r>
              <a:rPr lang="en-US" dirty="0"/>
              <a:t>In the proposed solution, the Social Media Agent is powered by multiple specialized AI agents that collaborate to perform different tasks:</a:t>
            </a:r>
          </a:p>
          <a:p>
            <a:r>
              <a:rPr lang="en-US" b="1" dirty="0"/>
              <a:t>Content Generation Agent</a:t>
            </a:r>
            <a:r>
              <a:rPr lang="en-US" dirty="0"/>
              <a:t> – Creates engaging captions, posts, blogs, and hashtags tailored to the target audience and platform. </a:t>
            </a:r>
          </a:p>
          <a:p>
            <a:r>
              <a:rPr lang="en-US" b="1" dirty="0"/>
              <a:t>Trend Analysis Agent</a:t>
            </a:r>
            <a:r>
              <a:rPr lang="en-US" dirty="0"/>
              <a:t> – Monitors trending topics, hashtags, and viral content to recommend timely marketing opportunities. </a:t>
            </a:r>
          </a:p>
          <a:p>
            <a:r>
              <a:rPr lang="en-US" b="1" dirty="0"/>
              <a:t>Sentiment Analysis Agent</a:t>
            </a:r>
            <a:r>
              <a:rPr lang="en-US" dirty="0"/>
              <a:t> – Analyzes comments, reviews, and messages to determine audience sentiment (positive, negative, or neutral) and provide actionable insights. </a:t>
            </a:r>
          </a:p>
          <a:p>
            <a:r>
              <a:rPr lang="en-US" b="1" dirty="0"/>
              <a:t>Scheduling Agent</a:t>
            </a:r>
            <a:r>
              <a:rPr lang="en-US" dirty="0"/>
              <a:t> – Automatically schedules and publishes content at optimal times based on audience activity and engagement patterns. </a:t>
            </a:r>
          </a:p>
          <a:p>
            <a:r>
              <a:rPr lang="en-US" b="1" dirty="0"/>
              <a:t>Analytics Agent</a:t>
            </a:r>
            <a:r>
              <a:rPr lang="en-US" dirty="0"/>
              <a:t> – Tracks key performance indicators (KPIs) such as reach, impressions, engagement rate, click-through rate, and follower growth, generating comprehensive performance reports. </a:t>
            </a:r>
          </a:p>
          <a:p>
            <a:r>
              <a:rPr lang="en-US" b="1" dirty="0"/>
              <a:t>Competitor Analysis Agent</a:t>
            </a:r>
            <a:r>
              <a:rPr lang="en-US" dirty="0"/>
              <a:t> – Monitors competitor activities, identifies successful strategies, and suggests improvements to maintain a competitive advantage. </a:t>
            </a:r>
          </a:p>
          <a:p>
            <a:r>
              <a:rPr lang="en-US" b="1" dirty="0"/>
              <a:t>Customer Engagement Agent</a:t>
            </a:r>
            <a:r>
              <a:rPr lang="en-US" dirty="0"/>
              <a:t> – Responds to frequently asked questions, interacts with followers, and escalates complex queries to human managers when necessary.</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–https://github.com/yadavaryan11595-rgb/IBM-WORKSHOP.git</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087619" y="358699"/>
            <a:ext cx="6575601" cy="766048"/>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087619" y="1124746"/>
            <a:ext cx="9214580" cy="4277001"/>
          </a:xfrm>
          <a:prstGeom prst="rect">
            <a:avLst/>
          </a:prstGeom>
          <a:noFill/>
          <a:ln>
            <a:noFill/>
          </a:ln>
        </p:spPr>
        <p:txBody>
          <a:bodyPr spcFirstLastPara="1" wrap="square" lIns="0" tIns="0" rIns="0" bIns="0" anchor="t" anchorCtr="0">
            <a:noAutofit/>
          </a:bodyPr>
          <a:lstStyle/>
          <a:p>
            <a:r>
              <a:rPr lang="en-US" dirty="0"/>
              <a:t>The AI-Powered Social Media Agent can be further enhanced with advanced capabilities to provide a smarter, more automated, and highly personalized social media management experience. Some future enhancements include:</a:t>
            </a:r>
          </a:p>
          <a:p>
            <a:r>
              <a:rPr lang="en-US" b="1" dirty="0"/>
              <a:t>AI-Based Automatic Content Publishing:</a:t>
            </a:r>
            <a:r>
              <a:rPr lang="en-US" dirty="0"/>
              <a:t> Enable the agent to automatically schedule and publish posts across multiple social media platforms based on user approval and optimal engagement times. </a:t>
            </a:r>
          </a:p>
          <a:p>
            <a:r>
              <a:rPr lang="en-US" b="1" dirty="0"/>
              <a:t>Advanced Video &amp; Reel Generation:</a:t>
            </a:r>
            <a:r>
              <a:rPr lang="en-US" dirty="0"/>
              <a:t> Integrate AI-powered video creation to generate short videos, reels, stories, and promotional content from text prompts or images. </a:t>
            </a:r>
          </a:p>
          <a:p>
            <a:r>
              <a:rPr lang="en-US" b="1" dirty="0"/>
              <a:t>Influencer Collaboration Engine:</a:t>
            </a:r>
            <a:r>
              <a:rPr lang="en-US" dirty="0"/>
              <a:t> Recommend suitable influencers based on audience demographics, engagement rates, niche, and campaign objectives for effective brand collaborations. </a:t>
            </a:r>
          </a:p>
          <a:p>
            <a:r>
              <a:rPr lang="en-US" b="1" dirty="0"/>
              <a:t>Real-Time Trend Prediction:</a:t>
            </a:r>
            <a:r>
              <a:rPr lang="en-US" dirty="0"/>
              <a:t> Continuously monitor global and regional social media trends, viral hashtags, and emerging topics to recommend timely content strategies. </a:t>
            </a:r>
          </a:p>
          <a:p>
            <a:r>
              <a:rPr lang="en-US" b="1" dirty="0"/>
              <a:t>Multilingual Content Generation:</a:t>
            </a:r>
            <a:r>
              <a:rPr lang="en-US" dirty="0"/>
              <a:t> Generate and translate posts, captions, hashtags, and replies into multiple languages, enabling brands to reach global audiences. </a:t>
            </a:r>
          </a:p>
          <a:p>
            <a:r>
              <a:rPr lang="en-US" b="1" dirty="0"/>
              <a:t>AI-Powered Community Management:</a:t>
            </a:r>
            <a:r>
              <a:rPr lang="en-US" dirty="0"/>
              <a:t> Automatically respond to comments, direct messages, and customer queries while maintaining the brand's tone and ensuring high engagement. </a:t>
            </a:r>
          </a:p>
          <a:p>
            <a:r>
              <a:rPr lang="en-US" b="1" dirty="0"/>
              <a:t>Competitor Intelligence:</a:t>
            </a:r>
            <a:r>
              <a:rPr lang="en-US" dirty="0"/>
              <a:t> Provide deeper competitor analysis by tracking campaign performance, posting frequency, audience growth, engagement metrics, and content strategies. </a:t>
            </a:r>
          </a:p>
          <a:p>
            <a:r>
              <a:rPr lang="en-US" b="1" dirty="0"/>
              <a:t>Sentiment &amp; Crisis Detection:</a:t>
            </a:r>
            <a:r>
              <a:rPr lang="en-US" dirty="0"/>
              <a:t> Detect negative sentiment, misinformation, or potential PR crises in real time and recommend proactive actions to protect brand reputation. </a:t>
            </a:r>
          </a:p>
          <a:p>
            <a:r>
              <a:rPr lang="en-US" b="1" dirty="0"/>
              <a:t>Predictive Campaign Analytics:</a:t>
            </a:r>
            <a:r>
              <a:rPr lang="en-US" dirty="0"/>
              <a:t> Forecast campaign reach, engagement, conversion rates, and ROI before publishing, helping marketers optimize their strategies. </a:t>
            </a:r>
          </a:p>
          <a:p>
            <a:r>
              <a:rPr lang="en-US" b="1" dirty="0"/>
              <a:t>Personalized Marketing Recommendations:</a:t>
            </a:r>
            <a:r>
              <a:rPr lang="en-US" dirty="0"/>
              <a:t> Learn user preferences and audience behavior over time to suggest customized content ideas, posting schedules, and marketing strategies.</a:t>
            </a:r>
          </a:p>
          <a:p>
            <a:pPr marL="0" marR="0" lvl="0" indent="0" algn="l" rtl="0">
              <a:lnSpc>
                <a:spcPct val="162162"/>
              </a:lnSpc>
              <a:spcBef>
                <a:spcPts val="0"/>
              </a:spcBef>
              <a:spcAft>
                <a:spcPts val="0"/>
              </a:spcAft>
              <a:buClr>
                <a:srgbClr val="2B3541"/>
              </a:buClr>
              <a:buSzPts val="1850"/>
              <a:buFont typeface="Times New Roman"/>
              <a:buNone/>
            </a:pPr>
            <a:endParaRPr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A1E24452-F59B-23B1-CFC2-6E340F8CF8A3}"/>
              </a:ext>
            </a:extLst>
          </p:cNvPr>
          <p:cNvPicPr>
            <a:picLocks noChangeAspect="1"/>
          </p:cNvPicPr>
          <p:nvPr/>
        </p:nvPicPr>
        <p:blipFill>
          <a:blip r:embed="rId2"/>
          <a:stretch>
            <a:fillRect/>
          </a:stretch>
        </p:blipFill>
        <p:spPr>
          <a:xfrm>
            <a:off x="2724909" y="1504385"/>
            <a:ext cx="5740695" cy="4349974"/>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D02A31B9-0D38-4366-4C8D-0133A12D830B}"/>
              </a:ext>
            </a:extLst>
          </p:cNvPr>
          <p:cNvPicPr>
            <a:picLocks noChangeAspect="1"/>
          </p:cNvPicPr>
          <p:nvPr/>
        </p:nvPicPr>
        <p:blipFill>
          <a:blip r:embed="rId2"/>
          <a:srcRect t="7501" b="4619"/>
          <a:stretch>
            <a:fillRect/>
          </a:stretch>
        </p:blipFill>
        <p:spPr>
          <a:xfrm>
            <a:off x="1751798" y="1645920"/>
            <a:ext cx="7680960" cy="4031241"/>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1839</Words>
  <Application>Microsoft Office PowerPoint</Application>
  <PresentationFormat>Widescreen</PresentationFormat>
  <Paragraphs>134</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ARYAN YADAV</cp:lastModifiedBy>
  <cp:revision>15</cp:revision>
  <dcterms:created xsi:type="dcterms:W3CDTF">2025-07-08T05:06:56Z</dcterms:created>
  <dcterms:modified xsi:type="dcterms:W3CDTF">2026-07-18T05:56:51Z</dcterms:modified>
</cp:coreProperties>
</file>